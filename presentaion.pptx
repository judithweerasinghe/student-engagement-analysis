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Poppins" panose="00000500000000000000" pitchFamily="2" charset="0"/>
      <p:regular r:id="rId20"/>
    </p:embeddedFont>
    <p:embeddedFont>
      <p:font typeface="Poppins Bold" panose="020B0604020202020204" charset="0"/>
      <p:regular r:id="rId21"/>
    </p:embeddedFont>
    <p:embeddedFont>
      <p:font typeface="Poppins Italics" panose="020B0604020202020204" charset="0"/>
      <p:regular r:id="rId22"/>
    </p:embeddedFont>
    <p:embeddedFont>
      <p:font typeface="Sugo Display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69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076" y="5673361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0" y="0"/>
                </a:moveTo>
                <a:lnTo>
                  <a:pt x="5394974" y="0"/>
                </a:lnTo>
                <a:lnTo>
                  <a:pt x="5394974" y="5385164"/>
                </a:lnTo>
                <a:lnTo>
                  <a:pt x="0" y="538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348747" y="6165668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0" y="0"/>
                </a:moveTo>
                <a:lnTo>
                  <a:pt x="5394974" y="0"/>
                </a:lnTo>
                <a:lnTo>
                  <a:pt x="5394974" y="5385164"/>
                </a:lnTo>
                <a:lnTo>
                  <a:pt x="0" y="538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109790" y="2463165"/>
            <a:ext cx="6704900" cy="6217920"/>
            <a:chOff x="0" y="0"/>
            <a:chExt cx="1038764" cy="9633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38764" cy="963319"/>
            </a:xfrm>
            <a:custGeom>
              <a:avLst/>
              <a:gdLst/>
              <a:ahLst/>
              <a:cxnLst/>
              <a:rect l="l" t="t" r="r" b="b"/>
              <a:pathLst>
                <a:path w="1038764" h="963319">
                  <a:moveTo>
                    <a:pt x="26557" y="0"/>
                  </a:moveTo>
                  <a:lnTo>
                    <a:pt x="1012207" y="0"/>
                  </a:lnTo>
                  <a:cubicBezTo>
                    <a:pt x="1019250" y="0"/>
                    <a:pt x="1026005" y="2798"/>
                    <a:pt x="1030986" y="7778"/>
                  </a:cubicBezTo>
                  <a:cubicBezTo>
                    <a:pt x="1035966" y="12759"/>
                    <a:pt x="1038764" y="19514"/>
                    <a:pt x="1038764" y="26557"/>
                  </a:cubicBezTo>
                  <a:lnTo>
                    <a:pt x="1038764" y="936761"/>
                  </a:lnTo>
                  <a:cubicBezTo>
                    <a:pt x="1038764" y="943805"/>
                    <a:pt x="1035966" y="950560"/>
                    <a:pt x="1030986" y="955540"/>
                  </a:cubicBezTo>
                  <a:cubicBezTo>
                    <a:pt x="1026005" y="960521"/>
                    <a:pt x="1019250" y="963319"/>
                    <a:pt x="1012207" y="963319"/>
                  </a:cubicBezTo>
                  <a:lnTo>
                    <a:pt x="26557" y="963319"/>
                  </a:lnTo>
                  <a:cubicBezTo>
                    <a:pt x="19514" y="963319"/>
                    <a:pt x="12759" y="960521"/>
                    <a:pt x="7778" y="955540"/>
                  </a:cubicBezTo>
                  <a:cubicBezTo>
                    <a:pt x="2798" y="950560"/>
                    <a:pt x="0" y="943805"/>
                    <a:pt x="0" y="936761"/>
                  </a:cubicBezTo>
                  <a:lnTo>
                    <a:pt x="0" y="26557"/>
                  </a:lnTo>
                  <a:cubicBezTo>
                    <a:pt x="0" y="19514"/>
                    <a:pt x="2798" y="12759"/>
                    <a:pt x="7778" y="7778"/>
                  </a:cubicBezTo>
                  <a:cubicBezTo>
                    <a:pt x="12759" y="2798"/>
                    <a:pt x="19514" y="0"/>
                    <a:pt x="26557" y="0"/>
                  </a:cubicBezTo>
                  <a:close/>
                </a:path>
              </a:pathLst>
            </a:custGeom>
            <a:blipFill>
              <a:blip r:embed="rId4"/>
              <a:stretch>
                <a:fillRect l="-19489" r="-194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5883849" y="7054486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15297178" y="7546793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flipH="1">
            <a:off x="-899826" y="-1099911"/>
            <a:ext cx="2019232" cy="2015561"/>
          </a:xfrm>
          <a:custGeom>
            <a:avLst/>
            <a:gdLst/>
            <a:ahLst/>
            <a:cxnLst/>
            <a:rect l="l" t="t" r="r" b="b"/>
            <a:pathLst>
              <a:path w="2019232" h="2015561">
                <a:moveTo>
                  <a:pt x="2019232" y="0"/>
                </a:moveTo>
                <a:lnTo>
                  <a:pt x="0" y="0"/>
                </a:lnTo>
                <a:lnTo>
                  <a:pt x="0" y="2015561"/>
                </a:lnTo>
                <a:lnTo>
                  <a:pt x="2019232" y="2015561"/>
                </a:lnTo>
                <a:lnTo>
                  <a:pt x="201923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flipH="1">
            <a:off x="-1119406" y="-915650"/>
            <a:ext cx="2019232" cy="2015561"/>
          </a:xfrm>
          <a:custGeom>
            <a:avLst/>
            <a:gdLst/>
            <a:ahLst/>
            <a:cxnLst/>
            <a:rect l="l" t="t" r="r" b="b"/>
            <a:pathLst>
              <a:path w="2019232" h="2015561">
                <a:moveTo>
                  <a:pt x="2019232" y="0"/>
                </a:moveTo>
                <a:lnTo>
                  <a:pt x="0" y="0"/>
                </a:lnTo>
                <a:lnTo>
                  <a:pt x="0" y="2015561"/>
                </a:lnTo>
                <a:lnTo>
                  <a:pt x="2019232" y="2015561"/>
                </a:lnTo>
                <a:lnTo>
                  <a:pt x="201923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805918" y="1213721"/>
            <a:ext cx="2171745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Larana, </a:t>
            </a:r>
            <a:r>
              <a:rPr lang="en-US" sz="2000" b="1" dirty="0" err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nc</a:t>
            </a:r>
            <a:r>
              <a:rPr lang="en-US" sz="2000" b="1" dirty="0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23053" y="3257243"/>
            <a:ext cx="10857325" cy="3023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4"/>
              </a:lnSpc>
              <a:spcBef>
                <a:spcPct val="0"/>
              </a:spcBef>
            </a:pPr>
            <a:r>
              <a:rPr lang="en-US" sz="18082" dirty="0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Project Plus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72426" y="1213721"/>
            <a:ext cx="145286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597347" y="1213721"/>
            <a:ext cx="217929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Applications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44487" y="1213721"/>
            <a:ext cx="145286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25286" y="1213721"/>
            <a:ext cx="145286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Process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128713"/>
            <a:ext cx="19116675" cy="8029575"/>
            <a:chOff x="0" y="0"/>
            <a:chExt cx="3933472" cy="16521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33472" cy="1652176"/>
            </a:xfrm>
            <a:custGeom>
              <a:avLst/>
              <a:gdLst/>
              <a:ahLst/>
              <a:cxnLst/>
              <a:rect l="l" t="t" r="r" b="b"/>
              <a:pathLst>
                <a:path w="3933472" h="1652176">
                  <a:moveTo>
                    <a:pt x="7910" y="0"/>
                  </a:moveTo>
                  <a:lnTo>
                    <a:pt x="3925562" y="0"/>
                  </a:lnTo>
                  <a:cubicBezTo>
                    <a:pt x="3929931" y="0"/>
                    <a:pt x="3933472" y="3541"/>
                    <a:pt x="3933472" y="7910"/>
                  </a:cubicBezTo>
                  <a:lnTo>
                    <a:pt x="3933472" y="1644266"/>
                  </a:lnTo>
                  <a:cubicBezTo>
                    <a:pt x="3933472" y="1646364"/>
                    <a:pt x="3932639" y="1648376"/>
                    <a:pt x="3931155" y="1649859"/>
                  </a:cubicBezTo>
                  <a:cubicBezTo>
                    <a:pt x="3929672" y="1651343"/>
                    <a:pt x="3927660" y="1652176"/>
                    <a:pt x="3925562" y="1652176"/>
                  </a:cubicBezTo>
                  <a:lnTo>
                    <a:pt x="7910" y="1652176"/>
                  </a:lnTo>
                  <a:cubicBezTo>
                    <a:pt x="5812" y="1652176"/>
                    <a:pt x="3800" y="1651343"/>
                    <a:pt x="2317" y="1649859"/>
                  </a:cubicBezTo>
                  <a:cubicBezTo>
                    <a:pt x="833" y="1648376"/>
                    <a:pt x="0" y="1646364"/>
                    <a:pt x="0" y="1644266"/>
                  </a:cubicBezTo>
                  <a:lnTo>
                    <a:pt x="0" y="7910"/>
                  </a:lnTo>
                  <a:cubicBezTo>
                    <a:pt x="0" y="3541"/>
                    <a:pt x="3541" y="0"/>
                    <a:pt x="7910" y="0"/>
                  </a:cubicBez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933472" cy="1690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6905" y="4866323"/>
            <a:ext cx="3103245" cy="3103245"/>
            <a:chOff x="0" y="0"/>
            <a:chExt cx="1371600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/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965960" y="4866323"/>
            <a:ext cx="3103245" cy="3103245"/>
            <a:chOff x="0" y="0"/>
            <a:chExt cx="13716000" cy="1371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/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218795" y="4973321"/>
            <a:ext cx="3103245" cy="3103245"/>
            <a:chOff x="0" y="0"/>
            <a:chExt cx="13716000" cy="13716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/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67850" y="4973321"/>
            <a:ext cx="3103245" cy="3103245"/>
            <a:chOff x="0" y="0"/>
            <a:chExt cx="13716000" cy="1371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/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830280" y="8083233"/>
            <a:ext cx="2989870" cy="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Juliana Silva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79335" y="8083233"/>
            <a:ext cx="2989870" cy="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Cahaya Dewi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75483" y="8183246"/>
            <a:ext cx="2989870" cy="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Aaron Loeb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24538" y="8183246"/>
            <a:ext cx="2989870" cy="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Estelle Darcy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79335" y="2194559"/>
            <a:ext cx="4946639" cy="173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2F2F2"/>
                </a:solidFill>
                <a:latin typeface="Sugo Display"/>
                <a:ea typeface="Sugo Display"/>
                <a:cs typeface="Sugo Display"/>
                <a:sym typeface="Sugo Display"/>
              </a:rPr>
              <a:t>Our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3257" y="303225"/>
            <a:ext cx="16621486" cy="1450950"/>
            <a:chOff x="0" y="0"/>
            <a:chExt cx="3420059" cy="2985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20059" cy="298549"/>
            </a:xfrm>
            <a:custGeom>
              <a:avLst/>
              <a:gdLst/>
              <a:ahLst/>
              <a:cxnLst/>
              <a:rect l="l" t="t" r="r" b="b"/>
              <a:pathLst>
                <a:path w="3420059" h="298549">
                  <a:moveTo>
                    <a:pt x="9097" y="0"/>
                  </a:moveTo>
                  <a:lnTo>
                    <a:pt x="3410962" y="0"/>
                  </a:lnTo>
                  <a:cubicBezTo>
                    <a:pt x="3415986" y="0"/>
                    <a:pt x="3420059" y="4073"/>
                    <a:pt x="3420059" y="9097"/>
                  </a:cubicBezTo>
                  <a:lnTo>
                    <a:pt x="3420059" y="289452"/>
                  </a:lnTo>
                  <a:cubicBezTo>
                    <a:pt x="3420059" y="294476"/>
                    <a:pt x="3415986" y="298549"/>
                    <a:pt x="3410962" y="298549"/>
                  </a:cubicBezTo>
                  <a:lnTo>
                    <a:pt x="9097" y="298549"/>
                  </a:lnTo>
                  <a:cubicBezTo>
                    <a:pt x="4073" y="298549"/>
                    <a:pt x="0" y="294476"/>
                    <a:pt x="0" y="289452"/>
                  </a:cubicBezTo>
                  <a:lnTo>
                    <a:pt x="0" y="9097"/>
                  </a:lnTo>
                  <a:cubicBezTo>
                    <a:pt x="0" y="4073"/>
                    <a:pt x="4073" y="0"/>
                    <a:pt x="9097" y="0"/>
                  </a:cubicBez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33350"/>
              <a:ext cx="3420059" cy="431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999"/>
                </a:lnSpc>
              </a:pPr>
              <a:r>
                <a:rPr lang="en-US" sz="49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Statement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36876" y="1858335"/>
            <a:ext cx="17017867" cy="1193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“Learning environments that encourage interaction improve student engagement.”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endParaRPr lang="en-US" sz="32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•Student engagement plays a key role in learning success and skill development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•Education is shifting from traditional teaching to interactive, technology-based learning environments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•It is not clearly proven whether these interactive methods actually improve student engagement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•Therefore, it is important to analyze the relationship between learning environment and student engagement 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1148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1148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1148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Freeform 6"/>
          <p:cNvSpPr/>
          <p:nvPr/>
        </p:nvSpPr>
        <p:spPr>
          <a:xfrm flipH="1">
            <a:off x="15883849" y="7054486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15297178" y="7546793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8740" y="1028700"/>
            <a:ext cx="16257983" cy="1187954"/>
            <a:chOff x="0" y="0"/>
            <a:chExt cx="3345264" cy="2444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5264" cy="244435"/>
            </a:xfrm>
            <a:custGeom>
              <a:avLst/>
              <a:gdLst/>
              <a:ahLst/>
              <a:cxnLst/>
              <a:rect l="l" t="t" r="r" b="b"/>
              <a:pathLst>
                <a:path w="3345264" h="244435">
                  <a:moveTo>
                    <a:pt x="9301" y="0"/>
                  </a:moveTo>
                  <a:lnTo>
                    <a:pt x="3335963" y="0"/>
                  </a:lnTo>
                  <a:cubicBezTo>
                    <a:pt x="3338430" y="0"/>
                    <a:pt x="3340796" y="980"/>
                    <a:pt x="3342540" y="2724"/>
                  </a:cubicBezTo>
                  <a:cubicBezTo>
                    <a:pt x="3344284" y="4468"/>
                    <a:pt x="3345264" y="6834"/>
                    <a:pt x="3345264" y="9301"/>
                  </a:cubicBezTo>
                  <a:lnTo>
                    <a:pt x="3345264" y="235134"/>
                  </a:lnTo>
                  <a:cubicBezTo>
                    <a:pt x="3345264" y="237601"/>
                    <a:pt x="3344284" y="239967"/>
                    <a:pt x="3342540" y="241711"/>
                  </a:cubicBezTo>
                  <a:cubicBezTo>
                    <a:pt x="3340796" y="243455"/>
                    <a:pt x="3338430" y="244435"/>
                    <a:pt x="3335963" y="244435"/>
                  </a:cubicBezTo>
                  <a:lnTo>
                    <a:pt x="9301" y="244435"/>
                  </a:lnTo>
                  <a:cubicBezTo>
                    <a:pt x="4164" y="244435"/>
                    <a:pt x="0" y="240271"/>
                    <a:pt x="0" y="235134"/>
                  </a:cubicBezTo>
                  <a:lnTo>
                    <a:pt x="0" y="9301"/>
                  </a:lnTo>
                  <a:cubicBezTo>
                    <a:pt x="0" y="6834"/>
                    <a:pt x="980" y="4468"/>
                    <a:pt x="2724" y="2724"/>
                  </a:cubicBezTo>
                  <a:cubicBezTo>
                    <a:pt x="4468" y="980"/>
                    <a:pt x="6834" y="0"/>
                    <a:pt x="9301" y="0"/>
                  </a:cubicBez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3345264" cy="368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6961695"/>
            <a:ext cx="16230600" cy="3003251"/>
            <a:chOff x="0" y="0"/>
            <a:chExt cx="2514545" cy="4652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14545" cy="465282"/>
            </a:xfrm>
            <a:custGeom>
              <a:avLst/>
              <a:gdLst/>
              <a:ahLst/>
              <a:cxnLst/>
              <a:rect l="l" t="t" r="r" b="b"/>
              <a:pathLst>
                <a:path w="2514545" h="465282">
                  <a:moveTo>
                    <a:pt x="10971" y="0"/>
                  </a:moveTo>
                  <a:lnTo>
                    <a:pt x="2503574" y="0"/>
                  </a:lnTo>
                  <a:cubicBezTo>
                    <a:pt x="2509633" y="0"/>
                    <a:pt x="2514545" y="4912"/>
                    <a:pt x="2514545" y="10971"/>
                  </a:cubicBezTo>
                  <a:lnTo>
                    <a:pt x="2514545" y="454311"/>
                  </a:lnTo>
                  <a:cubicBezTo>
                    <a:pt x="2514545" y="460370"/>
                    <a:pt x="2509633" y="465282"/>
                    <a:pt x="2503574" y="465282"/>
                  </a:cubicBezTo>
                  <a:lnTo>
                    <a:pt x="10971" y="465282"/>
                  </a:lnTo>
                  <a:cubicBezTo>
                    <a:pt x="4912" y="465282"/>
                    <a:pt x="0" y="460370"/>
                    <a:pt x="0" y="454311"/>
                  </a:cubicBezTo>
                  <a:lnTo>
                    <a:pt x="0" y="10971"/>
                  </a:lnTo>
                  <a:cubicBezTo>
                    <a:pt x="0" y="4912"/>
                    <a:pt x="4912" y="0"/>
                    <a:pt x="10971" y="0"/>
                  </a:cubicBezTo>
                  <a:close/>
                </a:path>
              </a:pathLst>
            </a:custGeom>
            <a:blipFill>
              <a:blip r:embed="rId2"/>
              <a:stretch>
                <a:fillRect t="-130308" b="-130308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48740" y="2140454"/>
            <a:ext cx="14800248" cy="4893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•To analyze the relationship between learning environment and student engagement 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•To evaluate the impact of interactive learning on student participation and performance 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•To statistically test whether interactive environments improve engagement 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•To use data analysis techniques to support the research findings </a:t>
            </a:r>
          </a:p>
          <a:p>
            <a:pPr algn="l">
              <a:lnSpc>
                <a:spcPts val="804"/>
              </a:lnSpc>
              <a:spcBef>
                <a:spcPct val="0"/>
              </a:spcBef>
            </a:pPr>
            <a:endParaRPr lang="en-US" sz="29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8740" y="1028700"/>
            <a:ext cx="16088387" cy="1145104"/>
            <a:chOff x="0" y="0"/>
            <a:chExt cx="3310368" cy="2356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10368" cy="235618"/>
            </a:xfrm>
            <a:custGeom>
              <a:avLst/>
              <a:gdLst/>
              <a:ahLst/>
              <a:cxnLst/>
              <a:rect l="l" t="t" r="r" b="b"/>
              <a:pathLst>
                <a:path w="3310368" h="235618">
                  <a:moveTo>
                    <a:pt x="9399" y="0"/>
                  </a:moveTo>
                  <a:lnTo>
                    <a:pt x="3300969" y="0"/>
                  </a:lnTo>
                  <a:cubicBezTo>
                    <a:pt x="3303462" y="0"/>
                    <a:pt x="3305852" y="990"/>
                    <a:pt x="3307615" y="2753"/>
                  </a:cubicBezTo>
                  <a:cubicBezTo>
                    <a:pt x="3309377" y="4515"/>
                    <a:pt x="3310368" y="6906"/>
                    <a:pt x="3310368" y="9399"/>
                  </a:cubicBezTo>
                  <a:lnTo>
                    <a:pt x="3310368" y="226219"/>
                  </a:lnTo>
                  <a:cubicBezTo>
                    <a:pt x="3310368" y="228712"/>
                    <a:pt x="3309377" y="231103"/>
                    <a:pt x="3307615" y="232865"/>
                  </a:cubicBezTo>
                  <a:cubicBezTo>
                    <a:pt x="3305852" y="234628"/>
                    <a:pt x="3303462" y="235618"/>
                    <a:pt x="3300969" y="235618"/>
                  </a:cubicBezTo>
                  <a:lnTo>
                    <a:pt x="9399" y="235618"/>
                  </a:lnTo>
                  <a:cubicBezTo>
                    <a:pt x="6906" y="235618"/>
                    <a:pt x="4515" y="234628"/>
                    <a:pt x="2753" y="232865"/>
                  </a:cubicBezTo>
                  <a:cubicBezTo>
                    <a:pt x="990" y="231103"/>
                    <a:pt x="0" y="228712"/>
                    <a:pt x="0" y="226219"/>
                  </a:cubicBezTo>
                  <a:lnTo>
                    <a:pt x="0" y="9399"/>
                  </a:lnTo>
                  <a:cubicBezTo>
                    <a:pt x="0" y="6906"/>
                    <a:pt x="990" y="4515"/>
                    <a:pt x="2753" y="2753"/>
                  </a:cubicBezTo>
                  <a:cubicBezTo>
                    <a:pt x="4515" y="990"/>
                    <a:pt x="6906" y="0"/>
                    <a:pt x="9399" y="0"/>
                  </a:cubicBez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3310368" cy="349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019"/>
                </a:lnSpc>
              </a:pPr>
              <a:r>
                <a:rPr lang="en-US" sz="42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Collection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3385" y="2237499"/>
            <a:ext cx="10703742" cy="7772078"/>
            <a:chOff x="0" y="0"/>
            <a:chExt cx="2202416" cy="15991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02416" cy="1599193"/>
            </a:xfrm>
            <a:custGeom>
              <a:avLst/>
              <a:gdLst/>
              <a:ahLst/>
              <a:cxnLst/>
              <a:rect l="l" t="t" r="r" b="b"/>
              <a:pathLst>
                <a:path w="2202416" h="1599193">
                  <a:moveTo>
                    <a:pt x="14127" y="0"/>
                  </a:moveTo>
                  <a:lnTo>
                    <a:pt x="2188289" y="0"/>
                  </a:lnTo>
                  <a:cubicBezTo>
                    <a:pt x="2196091" y="0"/>
                    <a:pt x="2202416" y="6325"/>
                    <a:pt x="2202416" y="14127"/>
                  </a:cubicBezTo>
                  <a:lnTo>
                    <a:pt x="2202416" y="1585066"/>
                  </a:lnTo>
                  <a:cubicBezTo>
                    <a:pt x="2202416" y="1592868"/>
                    <a:pt x="2196091" y="1599193"/>
                    <a:pt x="2188289" y="1599193"/>
                  </a:cubicBezTo>
                  <a:lnTo>
                    <a:pt x="14127" y="1599193"/>
                  </a:lnTo>
                  <a:cubicBezTo>
                    <a:pt x="6325" y="1599193"/>
                    <a:pt x="0" y="1592868"/>
                    <a:pt x="0" y="1585066"/>
                  </a:cubicBezTo>
                  <a:lnTo>
                    <a:pt x="0" y="14127"/>
                  </a:lnTo>
                  <a:cubicBezTo>
                    <a:pt x="0" y="6325"/>
                    <a:pt x="6325" y="0"/>
                    <a:pt x="14127" y="0"/>
                  </a:cubicBez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02416" cy="16753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•The dataset was obtained from Kaggle as secondary data </a:t>
              </a:r>
            </a:p>
            <a:p>
              <a:pPr algn="l">
                <a:lnSpc>
                  <a:spcPts val="4199"/>
                </a:lnSpc>
              </a:pPr>
              <a:endPara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•It was already collected in a structured and reliable format </a:t>
              </a:r>
            </a:p>
            <a:p>
              <a:pPr algn="l">
                <a:lnSpc>
                  <a:spcPts val="4199"/>
                </a:lnSpc>
              </a:pPr>
              <a:endPara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•The dataset includes relevant variables such as engagement score, participation rate,</a:t>
              </a:r>
            </a:p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and teaching method </a:t>
              </a:r>
            </a:p>
            <a:p>
              <a:pPr algn="l">
                <a:lnSpc>
                  <a:spcPts val="4199"/>
                </a:lnSpc>
              </a:pPr>
              <a:endPara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•Secondary data was used to save time and support statistical analysis efficiently </a:t>
              </a:r>
            </a:p>
            <a:p>
              <a:pPr algn="ctr">
                <a:lnSpc>
                  <a:spcPts val="2800"/>
                </a:lnSpc>
              </a:pPr>
              <a:endPara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-536534" y="8759437"/>
            <a:ext cx="2117648" cy="2113797"/>
          </a:xfrm>
          <a:custGeom>
            <a:avLst/>
            <a:gdLst/>
            <a:ahLst/>
            <a:cxnLst/>
            <a:rect l="l" t="t" r="r" b="b"/>
            <a:pathLst>
              <a:path w="2117648" h="2113797">
                <a:moveTo>
                  <a:pt x="2117648" y="0"/>
                </a:moveTo>
                <a:lnTo>
                  <a:pt x="0" y="0"/>
                </a:lnTo>
                <a:lnTo>
                  <a:pt x="0" y="2113797"/>
                </a:lnTo>
                <a:lnTo>
                  <a:pt x="2117648" y="2113797"/>
                </a:lnTo>
                <a:lnTo>
                  <a:pt x="211764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>
            <a:off x="-536534" y="8952678"/>
            <a:ext cx="2117648" cy="2113797"/>
          </a:xfrm>
          <a:custGeom>
            <a:avLst/>
            <a:gdLst/>
            <a:ahLst/>
            <a:cxnLst/>
            <a:rect l="l" t="t" r="r" b="b"/>
            <a:pathLst>
              <a:path w="2117648" h="2113797">
                <a:moveTo>
                  <a:pt x="2117648" y="0"/>
                </a:moveTo>
                <a:lnTo>
                  <a:pt x="0" y="0"/>
                </a:lnTo>
                <a:lnTo>
                  <a:pt x="0" y="2113798"/>
                </a:lnTo>
                <a:lnTo>
                  <a:pt x="2117648" y="2113798"/>
                </a:lnTo>
                <a:lnTo>
                  <a:pt x="211764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22290" y="3215006"/>
            <a:ext cx="5949962" cy="5817064"/>
          </a:xfrm>
          <a:custGeom>
            <a:avLst/>
            <a:gdLst/>
            <a:ahLst/>
            <a:cxnLst/>
            <a:rect l="l" t="t" r="r" b="b"/>
            <a:pathLst>
              <a:path w="5949962" h="5817064">
                <a:moveTo>
                  <a:pt x="0" y="0"/>
                </a:moveTo>
                <a:lnTo>
                  <a:pt x="5949962" y="0"/>
                </a:lnTo>
                <a:lnTo>
                  <a:pt x="5949962" y="5817064"/>
                </a:lnTo>
                <a:lnTo>
                  <a:pt x="0" y="5817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5434" b="-41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8740" y="1028700"/>
            <a:ext cx="15910560" cy="1187954"/>
            <a:chOff x="0" y="0"/>
            <a:chExt cx="3273778" cy="2444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73778" cy="244435"/>
            </a:xfrm>
            <a:custGeom>
              <a:avLst/>
              <a:gdLst/>
              <a:ahLst/>
              <a:cxnLst/>
              <a:rect l="l" t="t" r="r" b="b"/>
              <a:pathLst>
                <a:path w="3273778" h="244435">
                  <a:moveTo>
                    <a:pt x="9504" y="0"/>
                  </a:moveTo>
                  <a:lnTo>
                    <a:pt x="3264274" y="0"/>
                  </a:lnTo>
                  <a:cubicBezTo>
                    <a:pt x="3266794" y="0"/>
                    <a:pt x="3269212" y="1001"/>
                    <a:pt x="3270994" y="2784"/>
                  </a:cubicBezTo>
                  <a:cubicBezTo>
                    <a:pt x="3272777" y="4566"/>
                    <a:pt x="3273778" y="6983"/>
                    <a:pt x="3273778" y="9504"/>
                  </a:cubicBezTo>
                  <a:lnTo>
                    <a:pt x="3273778" y="234931"/>
                  </a:lnTo>
                  <a:cubicBezTo>
                    <a:pt x="3273778" y="237452"/>
                    <a:pt x="3272777" y="239869"/>
                    <a:pt x="3270994" y="241651"/>
                  </a:cubicBezTo>
                  <a:cubicBezTo>
                    <a:pt x="3269212" y="243434"/>
                    <a:pt x="3266794" y="244435"/>
                    <a:pt x="3264274" y="244435"/>
                  </a:cubicBezTo>
                  <a:lnTo>
                    <a:pt x="9504" y="244435"/>
                  </a:lnTo>
                  <a:cubicBezTo>
                    <a:pt x="6983" y="244435"/>
                    <a:pt x="4566" y="243434"/>
                    <a:pt x="2784" y="241651"/>
                  </a:cubicBezTo>
                  <a:cubicBezTo>
                    <a:pt x="1001" y="239869"/>
                    <a:pt x="0" y="237452"/>
                    <a:pt x="0" y="234931"/>
                  </a:cubicBezTo>
                  <a:lnTo>
                    <a:pt x="0" y="9504"/>
                  </a:lnTo>
                  <a:cubicBezTo>
                    <a:pt x="0" y="6983"/>
                    <a:pt x="1001" y="4566"/>
                    <a:pt x="2784" y="2784"/>
                  </a:cubicBezTo>
                  <a:cubicBezTo>
                    <a:pt x="4566" y="1001"/>
                    <a:pt x="6983" y="0"/>
                    <a:pt x="9504" y="0"/>
                  </a:cubicBez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3273778" cy="368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Preprocessing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33780" y="2296763"/>
            <a:ext cx="15740481" cy="8073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•Loaded and imported the dataset into R for analysis </a:t>
            </a:r>
          </a:p>
          <a:p>
            <a:pPr algn="just">
              <a:lnSpc>
                <a:spcPts val="4059"/>
              </a:lnSpc>
            </a:pPr>
            <a:endParaRPr lang="en-US" sz="2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•Cleaned column names into a standard format for easier processing </a:t>
            </a:r>
          </a:p>
          <a:p>
            <a:pPr algn="just">
              <a:lnSpc>
                <a:spcPts val="4059"/>
              </a:lnSpc>
            </a:pPr>
            <a:endParaRPr lang="en-US" sz="2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•Converted categorical variables into factors (e.g., gender, teaching method) </a:t>
            </a:r>
          </a:p>
          <a:p>
            <a:pPr algn="just">
              <a:lnSpc>
                <a:spcPts val="4059"/>
              </a:lnSpc>
            </a:pPr>
            <a:endParaRPr lang="en-US" sz="2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•Identified and separated numeric variables for statistical analysis </a:t>
            </a:r>
          </a:p>
          <a:p>
            <a:pPr algn="just">
              <a:lnSpc>
                <a:spcPts val="4059"/>
              </a:lnSpc>
            </a:pPr>
            <a:endParaRPr lang="en-US" sz="2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-US" sz="2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Created learning_environment_score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by combining key environment factors </a:t>
            </a:r>
          </a:p>
          <a:p>
            <a:pPr algn="just">
              <a:lnSpc>
                <a:spcPts val="4059"/>
              </a:lnSpc>
            </a:pPr>
            <a:endParaRPr lang="en-US" sz="2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•Removed constant variable (no variation) to improve analysis accuracy </a:t>
            </a:r>
          </a:p>
          <a:p>
            <a:pPr algn="just">
              <a:lnSpc>
                <a:spcPts val="3919"/>
              </a:lnSpc>
            </a:pPr>
            <a:endParaRPr lang="en-US" sz="2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84"/>
              </a:lnSpc>
            </a:pPr>
            <a:endParaRPr lang="en-US" sz="2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•Checked for missing values and duplicates (none found)</a:t>
            </a: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•Used summary statistics and boxplots to understand data distribution 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  <a:endParaRPr lang="en-US" sz="2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Freeform 6"/>
          <p:cNvSpPr/>
          <p:nvPr/>
        </p:nvSpPr>
        <p:spPr>
          <a:xfrm flipH="1">
            <a:off x="-85534" y="9258300"/>
            <a:ext cx="1114234" cy="1112209"/>
          </a:xfrm>
          <a:custGeom>
            <a:avLst/>
            <a:gdLst/>
            <a:ahLst/>
            <a:cxnLst/>
            <a:rect l="l" t="t" r="r" b="b"/>
            <a:pathLst>
              <a:path w="1114234" h="1112209">
                <a:moveTo>
                  <a:pt x="1114234" y="0"/>
                </a:moveTo>
                <a:lnTo>
                  <a:pt x="0" y="0"/>
                </a:lnTo>
                <a:lnTo>
                  <a:pt x="0" y="1112209"/>
                </a:lnTo>
                <a:lnTo>
                  <a:pt x="1114234" y="1112209"/>
                </a:lnTo>
                <a:lnTo>
                  <a:pt x="111423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-206701" y="9359977"/>
            <a:ext cx="1114234" cy="1112209"/>
          </a:xfrm>
          <a:custGeom>
            <a:avLst/>
            <a:gdLst/>
            <a:ahLst/>
            <a:cxnLst/>
            <a:rect l="l" t="t" r="r" b="b"/>
            <a:pathLst>
              <a:path w="1114234" h="1112209">
                <a:moveTo>
                  <a:pt x="1114235" y="0"/>
                </a:moveTo>
                <a:lnTo>
                  <a:pt x="0" y="0"/>
                </a:lnTo>
                <a:lnTo>
                  <a:pt x="0" y="1112209"/>
                </a:lnTo>
                <a:lnTo>
                  <a:pt x="1114235" y="1112209"/>
                </a:lnTo>
                <a:lnTo>
                  <a:pt x="11142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532166" y="9763566"/>
            <a:ext cx="1114234" cy="1112209"/>
          </a:xfrm>
          <a:custGeom>
            <a:avLst/>
            <a:gdLst/>
            <a:ahLst/>
            <a:cxnLst/>
            <a:rect l="l" t="t" r="r" b="b"/>
            <a:pathLst>
              <a:path w="1114234" h="1112209">
                <a:moveTo>
                  <a:pt x="1114234" y="0"/>
                </a:moveTo>
                <a:lnTo>
                  <a:pt x="0" y="0"/>
                </a:lnTo>
                <a:lnTo>
                  <a:pt x="0" y="1112208"/>
                </a:lnTo>
                <a:lnTo>
                  <a:pt x="1114234" y="1112208"/>
                </a:lnTo>
                <a:lnTo>
                  <a:pt x="111423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>
            <a:off x="411000" y="9865243"/>
            <a:ext cx="1114234" cy="1112209"/>
          </a:xfrm>
          <a:custGeom>
            <a:avLst/>
            <a:gdLst/>
            <a:ahLst/>
            <a:cxnLst/>
            <a:rect l="l" t="t" r="r" b="b"/>
            <a:pathLst>
              <a:path w="1114234" h="1112209">
                <a:moveTo>
                  <a:pt x="1114234" y="0"/>
                </a:moveTo>
                <a:lnTo>
                  <a:pt x="0" y="0"/>
                </a:lnTo>
                <a:lnTo>
                  <a:pt x="0" y="1112208"/>
                </a:lnTo>
                <a:lnTo>
                  <a:pt x="1114234" y="1112208"/>
                </a:lnTo>
                <a:lnTo>
                  <a:pt x="111423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-532848" y="-738506"/>
            <a:ext cx="1622131" cy="1619182"/>
          </a:xfrm>
          <a:custGeom>
            <a:avLst/>
            <a:gdLst/>
            <a:ahLst/>
            <a:cxnLst/>
            <a:rect l="l" t="t" r="r" b="b"/>
            <a:pathLst>
              <a:path w="1622131" h="1619182">
                <a:moveTo>
                  <a:pt x="1622131" y="0"/>
                </a:moveTo>
                <a:lnTo>
                  <a:pt x="0" y="0"/>
                </a:lnTo>
                <a:lnTo>
                  <a:pt x="0" y="1619182"/>
                </a:lnTo>
                <a:lnTo>
                  <a:pt x="1622131" y="1619182"/>
                </a:lnTo>
                <a:lnTo>
                  <a:pt x="16221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>
            <a:off x="-709245" y="-590482"/>
            <a:ext cx="1622131" cy="1619182"/>
          </a:xfrm>
          <a:custGeom>
            <a:avLst/>
            <a:gdLst/>
            <a:ahLst/>
            <a:cxnLst/>
            <a:rect l="l" t="t" r="r" b="b"/>
            <a:pathLst>
              <a:path w="1622131" h="1619182">
                <a:moveTo>
                  <a:pt x="1622131" y="0"/>
                </a:moveTo>
                <a:lnTo>
                  <a:pt x="0" y="0"/>
                </a:lnTo>
                <a:lnTo>
                  <a:pt x="0" y="1619182"/>
                </a:lnTo>
                <a:lnTo>
                  <a:pt x="1622131" y="1619182"/>
                </a:lnTo>
                <a:lnTo>
                  <a:pt x="16221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8740" y="1028700"/>
            <a:ext cx="15910560" cy="1040355"/>
            <a:chOff x="0" y="0"/>
            <a:chExt cx="3273778" cy="2140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73778" cy="214065"/>
            </a:xfrm>
            <a:custGeom>
              <a:avLst/>
              <a:gdLst/>
              <a:ahLst/>
              <a:cxnLst/>
              <a:rect l="l" t="t" r="r" b="b"/>
              <a:pathLst>
                <a:path w="3273778" h="214065">
                  <a:moveTo>
                    <a:pt x="9504" y="0"/>
                  </a:moveTo>
                  <a:lnTo>
                    <a:pt x="3264274" y="0"/>
                  </a:lnTo>
                  <a:cubicBezTo>
                    <a:pt x="3266794" y="0"/>
                    <a:pt x="3269212" y="1001"/>
                    <a:pt x="3270994" y="2784"/>
                  </a:cubicBezTo>
                  <a:cubicBezTo>
                    <a:pt x="3272777" y="4566"/>
                    <a:pt x="3273778" y="6983"/>
                    <a:pt x="3273778" y="9504"/>
                  </a:cubicBezTo>
                  <a:lnTo>
                    <a:pt x="3273778" y="204561"/>
                  </a:lnTo>
                  <a:cubicBezTo>
                    <a:pt x="3273778" y="207082"/>
                    <a:pt x="3272777" y="209499"/>
                    <a:pt x="3270994" y="211281"/>
                  </a:cubicBezTo>
                  <a:cubicBezTo>
                    <a:pt x="3269212" y="213064"/>
                    <a:pt x="3266794" y="214065"/>
                    <a:pt x="3264274" y="214065"/>
                  </a:cubicBezTo>
                  <a:lnTo>
                    <a:pt x="9504" y="214065"/>
                  </a:lnTo>
                  <a:cubicBezTo>
                    <a:pt x="6983" y="214065"/>
                    <a:pt x="4566" y="213064"/>
                    <a:pt x="2784" y="211281"/>
                  </a:cubicBezTo>
                  <a:cubicBezTo>
                    <a:pt x="1001" y="209499"/>
                    <a:pt x="0" y="207082"/>
                    <a:pt x="0" y="204561"/>
                  </a:cubicBezTo>
                  <a:lnTo>
                    <a:pt x="0" y="9504"/>
                  </a:lnTo>
                  <a:cubicBezTo>
                    <a:pt x="0" y="6983"/>
                    <a:pt x="1001" y="4566"/>
                    <a:pt x="2784" y="2784"/>
                  </a:cubicBezTo>
                  <a:cubicBezTo>
                    <a:pt x="4566" y="1001"/>
                    <a:pt x="6983" y="0"/>
                    <a:pt x="9504" y="0"/>
                  </a:cubicBez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3273778" cy="328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59"/>
                </a:lnSpc>
              </a:pPr>
              <a:r>
                <a:rPr lang="en-US" sz="3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Descriptive Analysis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12283" y="2356107"/>
            <a:ext cx="15647017" cy="1015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5376" lvl="1" indent="-317688" algn="l">
              <a:lnSpc>
                <a:spcPts val="4120"/>
              </a:lnSpc>
              <a:buFont typeface="Arial"/>
              <a:buChar char="•"/>
            </a:pPr>
            <a:r>
              <a:rPr lang="en-US" sz="294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Histogram</a:t>
            </a: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4120"/>
              </a:lnSpc>
            </a:pP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•Engagement score ranges from 50–100 and shows clustered distribution (not normal) </a:t>
            </a:r>
          </a:p>
          <a:p>
            <a:pPr algn="l">
              <a:lnSpc>
                <a:spcPts val="4120"/>
              </a:lnSpc>
            </a:pPr>
            <a:endParaRPr lang="en-US" sz="294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35376" lvl="1" indent="-317688" algn="l">
              <a:lnSpc>
                <a:spcPts val="4120"/>
              </a:lnSpc>
              <a:buFont typeface="Arial"/>
              <a:buChar char="•"/>
            </a:pPr>
            <a:r>
              <a:rPr lang="en-US" sz="294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Histogram:</a:t>
            </a:r>
          </a:p>
          <a:p>
            <a:pPr algn="just">
              <a:lnSpc>
                <a:spcPts val="4120"/>
              </a:lnSpc>
              <a:spcBef>
                <a:spcPct val="0"/>
              </a:spcBef>
            </a:pP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•Participation rate ranges from ~50–105, also shows non-normal clustered pattern </a:t>
            </a:r>
          </a:p>
          <a:p>
            <a:pPr algn="just">
              <a:lnSpc>
                <a:spcPts val="4120"/>
              </a:lnSpc>
              <a:spcBef>
                <a:spcPct val="0"/>
              </a:spcBef>
            </a:pPr>
            <a:endParaRPr lang="en-US" sz="294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35376" lvl="1" indent="-317688" algn="l">
              <a:lnSpc>
                <a:spcPts val="4120"/>
              </a:lnSpc>
              <a:buFont typeface="Arial"/>
              <a:buChar char="•"/>
            </a:pPr>
            <a:r>
              <a:rPr lang="en-US" sz="294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Histogram:</a:t>
            </a:r>
          </a:p>
          <a:p>
            <a:pPr algn="l">
              <a:lnSpc>
                <a:spcPts val="4120"/>
              </a:lnSpc>
            </a:pP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•Assignment completion time ranges from 20–60 minutes, showing variation in performance </a:t>
            </a:r>
          </a:p>
          <a:p>
            <a:pPr algn="just">
              <a:lnSpc>
                <a:spcPts val="4120"/>
              </a:lnSpc>
              <a:spcBef>
                <a:spcPct val="0"/>
              </a:spcBef>
            </a:pPr>
            <a:endParaRPr lang="en-US" sz="294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35376" lvl="1" indent="-317688" algn="l">
              <a:lnSpc>
                <a:spcPts val="4120"/>
              </a:lnSpc>
              <a:buFont typeface="Arial"/>
              <a:buChar char="•"/>
            </a:pPr>
            <a:r>
              <a:rPr lang="en-US" sz="294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Boxplot:</a:t>
            </a:r>
          </a:p>
          <a:p>
            <a:pPr algn="just">
              <a:lnSpc>
                <a:spcPts val="4120"/>
              </a:lnSpc>
              <a:spcBef>
                <a:spcPct val="0"/>
              </a:spcBef>
            </a:pP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•Engagement and completion time show wide spread</a:t>
            </a:r>
          </a:p>
          <a:p>
            <a:pPr algn="just">
              <a:lnSpc>
                <a:spcPts val="4120"/>
              </a:lnSpc>
              <a:spcBef>
                <a:spcPct val="0"/>
              </a:spcBef>
            </a:pPr>
            <a:r>
              <a:rPr lang="en-US" sz="2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•Learning environment score is stable (~2.0–3.0) with low variation </a:t>
            </a:r>
          </a:p>
          <a:p>
            <a:pPr algn="just">
              <a:lnSpc>
                <a:spcPts val="4120"/>
              </a:lnSpc>
              <a:spcBef>
                <a:spcPct val="0"/>
              </a:spcBef>
            </a:pPr>
            <a:endParaRPr lang="en-US" sz="294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120"/>
              </a:lnSpc>
              <a:spcBef>
                <a:spcPct val="0"/>
              </a:spcBef>
            </a:pPr>
            <a:endParaRPr lang="en-US" sz="294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120"/>
              </a:lnSpc>
              <a:spcBef>
                <a:spcPct val="0"/>
              </a:spcBef>
            </a:pPr>
            <a:endParaRPr lang="en-US" sz="294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120"/>
              </a:lnSpc>
              <a:spcBef>
                <a:spcPct val="0"/>
              </a:spcBef>
            </a:pPr>
            <a:endParaRPr lang="en-US" sz="294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55"/>
              </a:lnSpc>
              <a:spcBef>
                <a:spcPct val="0"/>
              </a:spcBef>
            </a:pPr>
            <a:endParaRPr lang="en-US" sz="294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2426" y="1213721"/>
            <a:ext cx="145286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597347" y="1213721"/>
            <a:ext cx="217929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Applications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144487" y="1213721"/>
            <a:ext cx="145286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525286" y="1213721"/>
            <a:ext cx="145286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5461" y="1204196"/>
            <a:ext cx="17017078" cy="6103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6" lvl="1" indent="-313053" algn="l">
              <a:lnSpc>
                <a:spcPts val="4059"/>
              </a:lnSpc>
              <a:buFont typeface="Arial"/>
              <a:buChar char="•"/>
            </a:pPr>
            <a:r>
              <a:rPr lang="en-US" sz="2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Scatter Plot: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•Participation vs Engagement → </a:t>
            </a:r>
            <a:r>
              <a:rPr lang="en-US" sz="2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very strong positive     relationship </a:t>
            </a:r>
          </a:p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•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Completion Time vs Engagemen</a:t>
            </a:r>
            <a:r>
              <a:rPr lang="en-US" sz="2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 → strong negative relationship </a:t>
            </a:r>
          </a:p>
          <a:p>
            <a:pPr algn="l">
              <a:lnSpc>
                <a:spcPts val="4059"/>
              </a:lnSpc>
            </a:pPr>
            <a:endParaRPr lang="en-US" sz="28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626106" lvl="1" indent="-313053" algn="l">
              <a:lnSpc>
                <a:spcPts val="4059"/>
              </a:lnSpc>
              <a:buFont typeface="Arial"/>
              <a:buChar char="•"/>
            </a:pPr>
            <a:r>
              <a:rPr lang="en-US" sz="2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Group Comparison (Boxplot):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 •Teaching methods show </a:t>
            </a:r>
            <a:r>
              <a:rPr lang="en-US" sz="2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similar engagement levels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(no major difference) </a:t>
            </a:r>
          </a:p>
          <a:p>
            <a:pPr algn="just">
              <a:lnSpc>
                <a:spcPts val="4059"/>
              </a:lnSpc>
            </a:pPr>
            <a:endParaRPr lang="en-US" sz="2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Q-Q Plot: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•Data is not </a:t>
            </a:r>
            <a:r>
              <a:rPr lang="en-US" sz="2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normally</a:t>
            </a: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distributed </a:t>
            </a:r>
          </a:p>
          <a:p>
            <a:pPr algn="just">
              <a:lnSpc>
                <a:spcPts val="4059"/>
              </a:lnSpc>
            </a:pPr>
            <a:endParaRPr lang="en-US" sz="2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059"/>
              </a:lnSpc>
            </a:pPr>
            <a:endParaRPr lang="en-US" sz="2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8740" y="1028700"/>
            <a:ext cx="16455843" cy="1014168"/>
            <a:chOff x="0" y="0"/>
            <a:chExt cx="3385976" cy="2086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85976" cy="208677"/>
            </a:xfrm>
            <a:custGeom>
              <a:avLst/>
              <a:gdLst/>
              <a:ahLst/>
              <a:cxnLst/>
              <a:rect l="l" t="t" r="r" b="b"/>
              <a:pathLst>
                <a:path w="3385976" h="208677">
                  <a:moveTo>
                    <a:pt x="9189" y="0"/>
                  </a:moveTo>
                  <a:lnTo>
                    <a:pt x="3376787" y="0"/>
                  </a:lnTo>
                  <a:cubicBezTo>
                    <a:pt x="3379224" y="0"/>
                    <a:pt x="3381561" y="968"/>
                    <a:pt x="3383285" y="2691"/>
                  </a:cubicBezTo>
                  <a:cubicBezTo>
                    <a:pt x="3385008" y="4415"/>
                    <a:pt x="3385976" y="6752"/>
                    <a:pt x="3385976" y="9189"/>
                  </a:cubicBezTo>
                  <a:lnTo>
                    <a:pt x="3385976" y="199488"/>
                  </a:lnTo>
                  <a:cubicBezTo>
                    <a:pt x="3385976" y="201925"/>
                    <a:pt x="3385008" y="204262"/>
                    <a:pt x="3383285" y="205985"/>
                  </a:cubicBezTo>
                  <a:cubicBezTo>
                    <a:pt x="3381561" y="207708"/>
                    <a:pt x="3379224" y="208677"/>
                    <a:pt x="3376787" y="208677"/>
                  </a:cubicBezTo>
                  <a:lnTo>
                    <a:pt x="9189" y="208677"/>
                  </a:lnTo>
                  <a:cubicBezTo>
                    <a:pt x="6752" y="208677"/>
                    <a:pt x="4415" y="207708"/>
                    <a:pt x="2691" y="205985"/>
                  </a:cubicBezTo>
                  <a:cubicBezTo>
                    <a:pt x="968" y="204262"/>
                    <a:pt x="0" y="201925"/>
                    <a:pt x="0" y="199488"/>
                  </a:cubicBezTo>
                  <a:lnTo>
                    <a:pt x="0" y="9189"/>
                  </a:lnTo>
                  <a:cubicBezTo>
                    <a:pt x="0" y="6752"/>
                    <a:pt x="968" y="4415"/>
                    <a:pt x="2691" y="2691"/>
                  </a:cubicBezTo>
                  <a:cubicBezTo>
                    <a:pt x="4415" y="968"/>
                    <a:pt x="6752" y="0"/>
                    <a:pt x="9189" y="0"/>
                  </a:cubicBez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3385976" cy="322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19"/>
                </a:lnSpc>
              </a:pPr>
              <a:r>
                <a:rPr lang="en-US" sz="37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Inferential Analysis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2365187"/>
            <a:ext cx="18546211" cy="8390191"/>
            <a:chOff x="0" y="0"/>
            <a:chExt cx="3953500" cy="17885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53501" cy="1788539"/>
            </a:xfrm>
            <a:custGeom>
              <a:avLst/>
              <a:gdLst/>
              <a:ahLst/>
              <a:cxnLst/>
              <a:rect l="l" t="t" r="r" b="b"/>
              <a:pathLst>
                <a:path w="3953501" h="1788539">
                  <a:moveTo>
                    <a:pt x="8153" y="0"/>
                  </a:moveTo>
                  <a:lnTo>
                    <a:pt x="3945348" y="0"/>
                  </a:lnTo>
                  <a:cubicBezTo>
                    <a:pt x="3949850" y="0"/>
                    <a:pt x="3953501" y="3650"/>
                    <a:pt x="3953501" y="8153"/>
                  </a:cubicBezTo>
                  <a:lnTo>
                    <a:pt x="3953501" y="1780386"/>
                  </a:lnTo>
                  <a:cubicBezTo>
                    <a:pt x="3953501" y="1784889"/>
                    <a:pt x="3949850" y="1788539"/>
                    <a:pt x="3945348" y="1788539"/>
                  </a:cubicBezTo>
                  <a:lnTo>
                    <a:pt x="8153" y="1788539"/>
                  </a:lnTo>
                  <a:cubicBezTo>
                    <a:pt x="3650" y="1788539"/>
                    <a:pt x="0" y="1784889"/>
                    <a:pt x="0" y="1780386"/>
                  </a:cubicBezTo>
                  <a:lnTo>
                    <a:pt x="0" y="8153"/>
                  </a:lnTo>
                  <a:cubicBezTo>
                    <a:pt x="0" y="3650"/>
                    <a:pt x="3650" y="0"/>
                    <a:pt x="8153" y="0"/>
                  </a:cubicBez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953500" cy="1855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39748" lvl="1" indent="-269874" algn="l">
                <a:lnSpc>
                  <a:spcPts val="3499"/>
                </a:lnSpc>
                <a:buFont typeface="Arial"/>
                <a:buChar char="•"/>
              </a:pP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t-test :</a:t>
              </a:r>
            </a:p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</a:t>
              </a: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•Compared engagement between teaching methods 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    •No significant difference </a:t>
              </a:r>
              <a:r>
                <a:rPr lang="en-US" sz="2499" i="1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(p = 0.8047 &gt; 0.05)</a:t>
              </a: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•Used Spearman correlation (data not normal):</a:t>
              </a:r>
            </a:p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      •</a:t>
              </a: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Participation </a:t>
              </a: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 very strong positive relationship</a:t>
              </a: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with engagement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     •Completion time</a:t>
              </a: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strong negative relationship</a:t>
              </a: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with engagement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     •Learning environment → </a:t>
              </a: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moderate positive relationship</a:t>
              </a:r>
            </a:p>
            <a:p>
              <a:pPr algn="l">
                <a:lnSpc>
                  <a:spcPts val="3499"/>
                </a:lnSpc>
              </a:pPr>
              <a:endPara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l">
                <a:lnSpc>
                  <a:spcPts val="3499"/>
                </a:lnSpc>
              </a:pPr>
              <a:endPara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•Independent Variable Selection:</a:t>
              </a:r>
            </a:p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      </a:t>
              </a: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•Selected variables based on</a:t>
              </a: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correlation strength and research relevance </a:t>
              </a:r>
            </a:p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       •Key variables: </a:t>
              </a: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participation rate, completion time, learning environment</a:t>
              </a: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ts val="2800"/>
                </a:lnSpc>
              </a:pPr>
              <a:endPara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ts val="2800"/>
                </a:lnSpc>
              </a:pPr>
              <a:endPara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05918" y="1213721"/>
            <a:ext cx="2171745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Larana, Inc.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597347" y="1213721"/>
            <a:ext cx="217929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Applications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144487" y="1213721"/>
            <a:ext cx="145286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Tools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525286" y="1213721"/>
            <a:ext cx="145286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Process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37215" y="0"/>
            <a:ext cx="18546211" cy="10985909"/>
            <a:chOff x="0" y="0"/>
            <a:chExt cx="3953500" cy="23418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53501" cy="2341869"/>
            </a:xfrm>
            <a:custGeom>
              <a:avLst/>
              <a:gdLst/>
              <a:ahLst/>
              <a:cxnLst/>
              <a:rect l="l" t="t" r="r" b="b"/>
              <a:pathLst>
                <a:path w="3953501" h="2341869">
                  <a:moveTo>
                    <a:pt x="8153" y="0"/>
                  </a:moveTo>
                  <a:lnTo>
                    <a:pt x="3945348" y="0"/>
                  </a:lnTo>
                  <a:cubicBezTo>
                    <a:pt x="3949850" y="0"/>
                    <a:pt x="3953501" y="3650"/>
                    <a:pt x="3953501" y="8153"/>
                  </a:cubicBezTo>
                  <a:lnTo>
                    <a:pt x="3953501" y="2333716"/>
                  </a:lnTo>
                  <a:cubicBezTo>
                    <a:pt x="3953501" y="2335878"/>
                    <a:pt x="3952642" y="2337952"/>
                    <a:pt x="3951113" y="2339481"/>
                  </a:cubicBezTo>
                  <a:cubicBezTo>
                    <a:pt x="3949584" y="2341010"/>
                    <a:pt x="3947510" y="2341869"/>
                    <a:pt x="3945348" y="2341869"/>
                  </a:cubicBezTo>
                  <a:lnTo>
                    <a:pt x="8153" y="2341869"/>
                  </a:lnTo>
                  <a:cubicBezTo>
                    <a:pt x="3650" y="2341869"/>
                    <a:pt x="0" y="2338219"/>
                    <a:pt x="0" y="2333716"/>
                  </a:cubicBezTo>
                  <a:lnTo>
                    <a:pt x="0" y="8153"/>
                  </a:lnTo>
                  <a:cubicBezTo>
                    <a:pt x="0" y="3650"/>
                    <a:pt x="3650" y="0"/>
                    <a:pt x="8153" y="0"/>
                  </a:cubicBez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3953500" cy="2408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378575"/>
            <a:ext cx="8223034" cy="9497535"/>
          </a:xfrm>
          <a:custGeom>
            <a:avLst/>
            <a:gdLst/>
            <a:ahLst/>
            <a:cxnLst/>
            <a:rect l="l" t="t" r="r" b="b"/>
            <a:pathLst>
              <a:path w="8223034" h="9497535">
                <a:moveTo>
                  <a:pt x="0" y="0"/>
                </a:moveTo>
                <a:lnTo>
                  <a:pt x="8223034" y="0"/>
                </a:lnTo>
                <a:lnTo>
                  <a:pt x="8223034" y="9497535"/>
                </a:lnTo>
                <a:lnTo>
                  <a:pt x="0" y="949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179" r="-165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8223034" y="292850"/>
            <a:ext cx="10064966" cy="1672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•Built </a:t>
            </a:r>
            <a:r>
              <a:rPr lang="en-US" sz="2799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multiple linear regression models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            •Participation = strongest positive predictor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             •Completion time = significant negative predictor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             •Learning environment = smaller but significant effect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•Model explain</a:t>
            </a:r>
            <a:r>
              <a:rPr lang="en-US" sz="2799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 ~99% variation (R² ≈ 0.99)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b="1">
              <a:solidFill>
                <a:srgbClr val="F2F2F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b="1">
              <a:solidFill>
                <a:srgbClr val="F2F2F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•Effect size (Cohen’s d) </a:t>
            </a:r>
            <a:r>
              <a:rPr lang="en-US" sz="2799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shows teaching method has negligible impact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•Mediation analysis (key finding)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          Learning environment affects engagement mainly through: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                  Participation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                  Completion time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                   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799">
              <a:solidFill>
                <a:srgbClr val="F2F2F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8740" y="1028700"/>
            <a:ext cx="16738502" cy="1187954"/>
            <a:chOff x="0" y="0"/>
            <a:chExt cx="3444136" cy="2444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44136" cy="244435"/>
            </a:xfrm>
            <a:custGeom>
              <a:avLst/>
              <a:gdLst/>
              <a:ahLst/>
              <a:cxnLst/>
              <a:rect l="l" t="t" r="r" b="b"/>
              <a:pathLst>
                <a:path w="3444136" h="244435">
                  <a:moveTo>
                    <a:pt x="9034" y="0"/>
                  </a:moveTo>
                  <a:lnTo>
                    <a:pt x="3435103" y="0"/>
                  </a:lnTo>
                  <a:cubicBezTo>
                    <a:pt x="3437499" y="0"/>
                    <a:pt x="3439796" y="952"/>
                    <a:pt x="3441490" y="2646"/>
                  </a:cubicBezTo>
                  <a:cubicBezTo>
                    <a:pt x="3443184" y="4340"/>
                    <a:pt x="3444136" y="6638"/>
                    <a:pt x="3444136" y="9034"/>
                  </a:cubicBezTo>
                  <a:lnTo>
                    <a:pt x="3444136" y="235401"/>
                  </a:lnTo>
                  <a:cubicBezTo>
                    <a:pt x="3444136" y="240390"/>
                    <a:pt x="3440092" y="244435"/>
                    <a:pt x="3435103" y="244435"/>
                  </a:cubicBezTo>
                  <a:lnTo>
                    <a:pt x="9034" y="244435"/>
                  </a:lnTo>
                  <a:cubicBezTo>
                    <a:pt x="4044" y="244435"/>
                    <a:pt x="0" y="240390"/>
                    <a:pt x="0" y="235401"/>
                  </a:cubicBezTo>
                  <a:lnTo>
                    <a:pt x="0" y="9034"/>
                  </a:lnTo>
                  <a:cubicBezTo>
                    <a:pt x="0" y="4044"/>
                    <a:pt x="4044" y="0"/>
                    <a:pt x="9034" y="0"/>
                  </a:cubicBez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3444136" cy="368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Predictive Model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87082" y="2446065"/>
            <a:ext cx="5643235" cy="7040630"/>
            <a:chOff x="0" y="0"/>
            <a:chExt cx="874285" cy="10907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4285" cy="1090778"/>
            </a:xfrm>
            <a:custGeom>
              <a:avLst/>
              <a:gdLst/>
              <a:ahLst/>
              <a:cxnLst/>
              <a:rect l="l" t="t" r="r" b="b"/>
              <a:pathLst>
                <a:path w="874285" h="1090778">
                  <a:moveTo>
                    <a:pt x="31554" y="0"/>
                  </a:moveTo>
                  <a:lnTo>
                    <a:pt x="842731" y="0"/>
                  </a:lnTo>
                  <a:cubicBezTo>
                    <a:pt x="860158" y="0"/>
                    <a:pt x="874285" y="14127"/>
                    <a:pt x="874285" y="31554"/>
                  </a:cubicBezTo>
                  <a:lnTo>
                    <a:pt x="874285" y="1059224"/>
                  </a:lnTo>
                  <a:cubicBezTo>
                    <a:pt x="874285" y="1067593"/>
                    <a:pt x="870960" y="1075619"/>
                    <a:pt x="865043" y="1081536"/>
                  </a:cubicBezTo>
                  <a:cubicBezTo>
                    <a:pt x="859125" y="1087453"/>
                    <a:pt x="851100" y="1090778"/>
                    <a:pt x="842731" y="1090778"/>
                  </a:cubicBezTo>
                  <a:lnTo>
                    <a:pt x="31554" y="1090778"/>
                  </a:lnTo>
                  <a:cubicBezTo>
                    <a:pt x="14127" y="1090778"/>
                    <a:pt x="0" y="1076651"/>
                    <a:pt x="0" y="1059224"/>
                  </a:cubicBezTo>
                  <a:lnTo>
                    <a:pt x="0" y="31554"/>
                  </a:lnTo>
                  <a:cubicBezTo>
                    <a:pt x="0" y="23185"/>
                    <a:pt x="3324" y="15159"/>
                    <a:pt x="9242" y="9242"/>
                  </a:cubicBezTo>
                  <a:cubicBezTo>
                    <a:pt x="15159" y="3324"/>
                    <a:pt x="23185" y="0"/>
                    <a:pt x="31554" y="0"/>
                  </a:cubicBezTo>
                  <a:close/>
                </a:path>
              </a:pathLst>
            </a:custGeom>
            <a:blipFill>
              <a:blip r:embed="rId2"/>
              <a:stretch>
                <a:fillRect l="-43486" r="-4348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5850" y="3450851"/>
            <a:ext cx="7643382" cy="4094416"/>
            <a:chOff x="0" y="0"/>
            <a:chExt cx="1572712" cy="842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72712" cy="842473"/>
            </a:xfrm>
            <a:custGeom>
              <a:avLst/>
              <a:gdLst/>
              <a:ahLst/>
              <a:cxnLst/>
              <a:rect l="l" t="t" r="r" b="b"/>
              <a:pathLst>
                <a:path w="1572712" h="842473">
                  <a:moveTo>
                    <a:pt x="19783" y="0"/>
                  </a:moveTo>
                  <a:lnTo>
                    <a:pt x="1552929" y="0"/>
                  </a:lnTo>
                  <a:cubicBezTo>
                    <a:pt x="1563855" y="0"/>
                    <a:pt x="1572712" y="8857"/>
                    <a:pt x="1572712" y="19783"/>
                  </a:cubicBezTo>
                  <a:lnTo>
                    <a:pt x="1572712" y="822690"/>
                  </a:lnTo>
                  <a:cubicBezTo>
                    <a:pt x="1572712" y="827936"/>
                    <a:pt x="1570628" y="832968"/>
                    <a:pt x="1566918" y="836678"/>
                  </a:cubicBezTo>
                  <a:cubicBezTo>
                    <a:pt x="1563208" y="840388"/>
                    <a:pt x="1558176" y="842473"/>
                    <a:pt x="1552929" y="842473"/>
                  </a:cubicBezTo>
                  <a:lnTo>
                    <a:pt x="19783" y="842473"/>
                  </a:lnTo>
                  <a:cubicBezTo>
                    <a:pt x="14536" y="842473"/>
                    <a:pt x="9504" y="840388"/>
                    <a:pt x="5794" y="836678"/>
                  </a:cubicBezTo>
                  <a:cubicBezTo>
                    <a:pt x="2084" y="832968"/>
                    <a:pt x="0" y="827936"/>
                    <a:pt x="0" y="822690"/>
                  </a:cubicBezTo>
                  <a:lnTo>
                    <a:pt x="0" y="19783"/>
                  </a:lnTo>
                  <a:cubicBezTo>
                    <a:pt x="0" y="14536"/>
                    <a:pt x="2084" y="9504"/>
                    <a:pt x="5794" y="5794"/>
                  </a:cubicBezTo>
                  <a:cubicBezTo>
                    <a:pt x="9504" y="2084"/>
                    <a:pt x="14536" y="0"/>
                    <a:pt x="19783" y="0"/>
                  </a:cubicBez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572712" cy="909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39748" lvl="1" indent="-269874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Built predictive models to estimate student engagement using key variables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            •Learning environment score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            •Participation rate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            •Assignment completion time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717991" y="2718687"/>
            <a:ext cx="8051863" cy="728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•Used </a:t>
            </a: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Linear Regression, Random Forest, and SVM models</a:t>
            </a:r>
          </a:p>
          <a:p>
            <a:pPr algn="just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•Data was split into 80% training and 20% testing</a:t>
            </a:r>
          </a:p>
          <a:p>
            <a:pPr algn="just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•Model performance evaluated using RMSE (prediction error)</a:t>
            </a:r>
          </a:p>
          <a:p>
            <a:pPr algn="just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•Results: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Linear Regression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→ RMSE ≈ 1.29 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Random Forest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→ RMSE ≈ 1.22 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SVM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→ RMSE ≈ 1.22 (best model)</a:t>
            </a:r>
          </a:p>
          <a:p>
            <a:pPr algn="just">
              <a:lnSpc>
                <a:spcPts val="2800"/>
              </a:lnSpc>
            </a:pPr>
            <a:endParaRPr lang="en-US" sz="24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00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04926" y="0"/>
            <a:ext cx="6176410" cy="10287000"/>
            <a:chOff x="0" y="0"/>
            <a:chExt cx="956887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6888" cy="1593725"/>
            </a:xfrm>
            <a:custGeom>
              <a:avLst/>
              <a:gdLst/>
              <a:ahLst/>
              <a:cxnLst/>
              <a:rect l="l" t="t" r="r" b="b"/>
              <a:pathLst>
                <a:path w="956888" h="1593725">
                  <a:moveTo>
                    <a:pt x="28830" y="0"/>
                  </a:moveTo>
                  <a:lnTo>
                    <a:pt x="928058" y="0"/>
                  </a:lnTo>
                  <a:cubicBezTo>
                    <a:pt x="943980" y="0"/>
                    <a:pt x="956888" y="12908"/>
                    <a:pt x="956888" y="28830"/>
                  </a:cubicBezTo>
                  <a:lnTo>
                    <a:pt x="956888" y="1564896"/>
                  </a:lnTo>
                  <a:cubicBezTo>
                    <a:pt x="956888" y="1572542"/>
                    <a:pt x="953850" y="1579875"/>
                    <a:pt x="948443" y="1585281"/>
                  </a:cubicBezTo>
                  <a:cubicBezTo>
                    <a:pt x="943037" y="1590688"/>
                    <a:pt x="935704" y="1593725"/>
                    <a:pt x="928058" y="1593725"/>
                  </a:cubicBezTo>
                  <a:lnTo>
                    <a:pt x="28830" y="1593725"/>
                  </a:lnTo>
                  <a:cubicBezTo>
                    <a:pt x="12908" y="1593725"/>
                    <a:pt x="0" y="1580818"/>
                    <a:pt x="0" y="1564896"/>
                  </a:cubicBezTo>
                  <a:lnTo>
                    <a:pt x="0" y="28830"/>
                  </a:lnTo>
                  <a:cubicBezTo>
                    <a:pt x="0" y="12908"/>
                    <a:pt x="12908" y="0"/>
                    <a:pt x="28830" y="0"/>
                  </a:cubicBezTo>
                  <a:close/>
                </a:path>
              </a:pathLst>
            </a:custGeom>
            <a:blipFill>
              <a:blip r:embed="rId2"/>
              <a:stretch>
                <a:fillRect l="-74801" r="-748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48740" y="1028700"/>
            <a:ext cx="16257983" cy="1092730"/>
            <a:chOff x="0" y="0"/>
            <a:chExt cx="3345264" cy="2248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45264" cy="224842"/>
            </a:xfrm>
            <a:custGeom>
              <a:avLst/>
              <a:gdLst/>
              <a:ahLst/>
              <a:cxnLst/>
              <a:rect l="l" t="t" r="r" b="b"/>
              <a:pathLst>
                <a:path w="3345264" h="224842">
                  <a:moveTo>
                    <a:pt x="9301" y="0"/>
                  </a:moveTo>
                  <a:lnTo>
                    <a:pt x="3335963" y="0"/>
                  </a:lnTo>
                  <a:cubicBezTo>
                    <a:pt x="3338430" y="0"/>
                    <a:pt x="3340796" y="980"/>
                    <a:pt x="3342540" y="2724"/>
                  </a:cubicBezTo>
                  <a:cubicBezTo>
                    <a:pt x="3344284" y="4468"/>
                    <a:pt x="3345264" y="6834"/>
                    <a:pt x="3345264" y="9301"/>
                  </a:cubicBezTo>
                  <a:lnTo>
                    <a:pt x="3345264" y="215541"/>
                  </a:lnTo>
                  <a:cubicBezTo>
                    <a:pt x="3345264" y="220677"/>
                    <a:pt x="3341100" y="224842"/>
                    <a:pt x="3335963" y="224842"/>
                  </a:cubicBezTo>
                  <a:lnTo>
                    <a:pt x="9301" y="224842"/>
                  </a:lnTo>
                  <a:cubicBezTo>
                    <a:pt x="6834" y="224842"/>
                    <a:pt x="4468" y="223862"/>
                    <a:pt x="2724" y="222117"/>
                  </a:cubicBezTo>
                  <a:cubicBezTo>
                    <a:pt x="980" y="220373"/>
                    <a:pt x="0" y="218008"/>
                    <a:pt x="0" y="215541"/>
                  </a:cubicBezTo>
                  <a:lnTo>
                    <a:pt x="0" y="9301"/>
                  </a:lnTo>
                  <a:cubicBezTo>
                    <a:pt x="0" y="6834"/>
                    <a:pt x="980" y="4468"/>
                    <a:pt x="2724" y="2724"/>
                  </a:cubicBezTo>
                  <a:cubicBezTo>
                    <a:pt x="4468" y="980"/>
                    <a:pt x="6834" y="0"/>
                    <a:pt x="9301" y="0"/>
                  </a:cubicBez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3345264" cy="339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39"/>
                </a:lnSpc>
              </a:pPr>
              <a:r>
                <a:rPr lang="en-US" sz="40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Results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48740" y="2356373"/>
            <a:ext cx="11338844" cy="1213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Teaching Method Effect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No significant difference between AIGC and Traditional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p-value = </a:t>
            </a: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0.8047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(&gt; 0.05) → Not significant 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Correlation Results</a:t>
            </a: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Participation vs Engagement →</a:t>
            </a: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ρ ≈ 0.99 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(very strong positive)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Completion Time vs Engagement → </a:t>
            </a: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ρ ≈ -0.88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(strong negative)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Learning Environment vs Engagement →</a:t>
            </a: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ρ ≈ 0.49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(moderate positive)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Regression Results</a:t>
            </a: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Participation coefficient ≈</a:t>
            </a: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+0.87 (strong positive effect) </a:t>
            </a: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Completion time coefficient ≈</a:t>
            </a: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-0.15 (negative effect) </a:t>
            </a: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Learning environment coefficient ≈</a:t>
            </a: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+0.41 (small positive effect) </a:t>
            </a: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Model accuracy: R² ≈</a:t>
            </a: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0.9935 (99.35%)</a:t>
            </a:r>
          </a:p>
          <a:p>
            <a:pPr algn="l">
              <a:lnSpc>
                <a:spcPts val="2660"/>
              </a:lnSpc>
            </a:pPr>
            <a:endParaRPr lang="en-US" sz="23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660"/>
              </a:lnSpc>
            </a:pPr>
            <a:endParaRPr lang="en-US" sz="23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660"/>
              </a:lnSpc>
            </a:pPr>
            <a:endParaRPr lang="en-US" sz="23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660"/>
              </a:lnSpc>
            </a:pPr>
            <a:endParaRPr lang="en-US" sz="23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660"/>
              </a:lnSpc>
            </a:pPr>
            <a:endParaRPr lang="en-US" sz="23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660"/>
              </a:lnSpc>
            </a:pP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</a:t>
            </a:r>
          </a:p>
          <a:p>
            <a:pPr algn="l">
              <a:lnSpc>
                <a:spcPts val="2660"/>
              </a:lnSpc>
            </a:pPr>
            <a:endParaRPr lang="en-US" sz="1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660"/>
              </a:lnSpc>
            </a:pPr>
            <a:endParaRPr lang="en-US" sz="1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660"/>
              </a:lnSpc>
            </a:pPr>
            <a:endParaRPr lang="en-US" sz="1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660"/>
              </a:lnSpc>
            </a:pPr>
            <a:endParaRPr lang="en-US" sz="1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660"/>
              </a:lnSpc>
            </a:pPr>
            <a:endParaRPr lang="en-US" sz="1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660"/>
              </a:lnSpc>
            </a:pPr>
            <a:endParaRPr lang="en-US" sz="1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660"/>
              </a:lnSpc>
              <a:spcBef>
                <a:spcPct val="0"/>
              </a:spcBef>
            </a:pPr>
            <a:endParaRPr lang="en-US" sz="1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660"/>
              </a:lnSpc>
              <a:spcBef>
                <a:spcPct val="0"/>
              </a:spcBef>
            </a:pPr>
            <a:endParaRPr lang="en-US" sz="1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660"/>
              </a:lnSpc>
              <a:spcBef>
                <a:spcPct val="0"/>
              </a:spcBef>
            </a:pPr>
            <a:endParaRPr lang="en-US" sz="1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784" y="546100"/>
            <a:ext cx="16693595" cy="1207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Effect Size</a:t>
            </a:r>
          </a:p>
          <a:p>
            <a:pPr algn="just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Cohen’s d ≈</a:t>
            </a:r>
            <a:r>
              <a:rPr lang="en-US" sz="2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0.009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→ negligible effect of teaching method</a:t>
            </a:r>
          </a:p>
          <a:p>
            <a:pPr algn="just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Best predictive model: SVM</a:t>
            </a:r>
            <a:r>
              <a:rPr lang="en-US" sz="2599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(RMSE ≈ 1.22, highest accuracy)</a:t>
            </a:r>
          </a:p>
          <a:p>
            <a:pPr algn="just">
              <a:lnSpc>
                <a:spcPts val="3639"/>
              </a:lnSpc>
            </a:pPr>
            <a:endParaRPr lang="en-US" sz="2599" i="1">
              <a:solidFill>
                <a:srgbClr val="000000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  <a:p>
            <a:pPr algn="just">
              <a:lnSpc>
                <a:spcPts val="3639"/>
              </a:lnSpc>
            </a:pPr>
            <a:endParaRPr lang="en-US" sz="2599" i="1">
              <a:solidFill>
                <a:srgbClr val="000000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 engagement is mainly influenced by:</a:t>
            </a:r>
          </a:p>
          <a:p>
            <a:pPr algn="just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             Participation (strong positive)</a:t>
            </a:r>
          </a:p>
          <a:p>
            <a:pPr algn="just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            Completion time (strong negative)</a:t>
            </a:r>
          </a:p>
          <a:p>
            <a:pPr algn="just">
              <a:lnSpc>
                <a:spcPts val="3639"/>
              </a:lnSpc>
            </a:pPr>
            <a:endParaRPr lang="en-US" sz="2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Learning environment improves engagement: </a:t>
            </a:r>
          </a:p>
          <a:p>
            <a:pPr algn="just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              Indirectly through participation and efficiency </a:t>
            </a:r>
          </a:p>
          <a:p>
            <a:pPr algn="just">
              <a:lnSpc>
                <a:spcPts val="3639"/>
              </a:lnSpc>
            </a:pPr>
            <a:endParaRPr lang="en-US" sz="2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639"/>
              </a:lnSpc>
            </a:pPr>
            <a:endParaRPr lang="en-US" sz="2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639"/>
              </a:lnSpc>
            </a:pPr>
            <a:endParaRPr lang="en-US" sz="2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Teaching method alone has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no significant impact </a:t>
            </a:r>
          </a:p>
          <a:p>
            <a:pPr algn="just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Overall, the research confirms:</a:t>
            </a:r>
          </a:p>
          <a:p>
            <a:pPr algn="just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        • Interactive learning environments improve student engagement mainly through interaction factors </a:t>
            </a:r>
          </a:p>
          <a:p>
            <a:pPr algn="just">
              <a:lnSpc>
                <a:spcPts val="2800"/>
              </a:lnSpc>
            </a:pPr>
            <a:endParaRPr lang="en-US" sz="2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800"/>
              </a:lnSpc>
            </a:pPr>
            <a:endParaRPr lang="en-US" sz="2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800"/>
              </a:lnSpc>
            </a:pPr>
            <a:endParaRPr lang="en-US" sz="2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800"/>
              </a:lnSpc>
            </a:pPr>
            <a:endParaRPr lang="en-US" sz="2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800"/>
              </a:lnSpc>
            </a:pPr>
            <a:endParaRPr lang="en-US" sz="2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800"/>
              </a:lnSpc>
            </a:pPr>
            <a:endParaRPr lang="en-US" sz="2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800"/>
              </a:lnSpc>
              <a:spcBef>
                <a:spcPct val="0"/>
              </a:spcBef>
            </a:pPr>
            <a:endParaRPr lang="en-US" sz="2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6760" y="802573"/>
            <a:ext cx="17634461" cy="1145104"/>
            <a:chOff x="0" y="0"/>
            <a:chExt cx="3628490" cy="2356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28490" cy="235618"/>
            </a:xfrm>
            <a:custGeom>
              <a:avLst/>
              <a:gdLst/>
              <a:ahLst/>
              <a:cxnLst/>
              <a:rect l="l" t="t" r="r" b="b"/>
              <a:pathLst>
                <a:path w="3628490" h="235618">
                  <a:moveTo>
                    <a:pt x="8575" y="0"/>
                  </a:moveTo>
                  <a:lnTo>
                    <a:pt x="3619915" y="0"/>
                  </a:lnTo>
                  <a:cubicBezTo>
                    <a:pt x="3624651" y="0"/>
                    <a:pt x="3628490" y="3839"/>
                    <a:pt x="3628490" y="8575"/>
                  </a:cubicBezTo>
                  <a:lnTo>
                    <a:pt x="3628490" y="227044"/>
                  </a:lnTo>
                  <a:cubicBezTo>
                    <a:pt x="3628490" y="231779"/>
                    <a:pt x="3624651" y="235618"/>
                    <a:pt x="3619915" y="235618"/>
                  </a:cubicBezTo>
                  <a:lnTo>
                    <a:pt x="8575" y="235618"/>
                  </a:lnTo>
                  <a:cubicBezTo>
                    <a:pt x="3839" y="235618"/>
                    <a:pt x="0" y="231779"/>
                    <a:pt x="0" y="227044"/>
                  </a:cubicBezTo>
                  <a:lnTo>
                    <a:pt x="0" y="8575"/>
                  </a:lnTo>
                  <a:cubicBezTo>
                    <a:pt x="0" y="3839"/>
                    <a:pt x="3839" y="0"/>
                    <a:pt x="8575" y="0"/>
                  </a:cubicBez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3628490" cy="349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019"/>
                </a:lnSpc>
              </a:pPr>
              <a:r>
                <a:rPr lang="en-US" sz="42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Final Decision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4816593" cy="337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00422" y="2741352"/>
            <a:ext cx="18131644" cy="5723273"/>
            <a:chOff x="0" y="0"/>
            <a:chExt cx="3730791" cy="11776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30791" cy="1177628"/>
            </a:xfrm>
            <a:custGeom>
              <a:avLst/>
              <a:gdLst/>
              <a:ahLst/>
              <a:cxnLst/>
              <a:rect l="l" t="t" r="r" b="b"/>
              <a:pathLst>
                <a:path w="3730791" h="1177628">
                  <a:moveTo>
                    <a:pt x="8340" y="0"/>
                  </a:moveTo>
                  <a:lnTo>
                    <a:pt x="3722451" y="0"/>
                  </a:lnTo>
                  <a:cubicBezTo>
                    <a:pt x="3727057" y="0"/>
                    <a:pt x="3730791" y="3734"/>
                    <a:pt x="3730791" y="8340"/>
                  </a:cubicBezTo>
                  <a:lnTo>
                    <a:pt x="3730791" y="1169289"/>
                  </a:lnTo>
                  <a:cubicBezTo>
                    <a:pt x="3730791" y="1171500"/>
                    <a:pt x="3729912" y="1173622"/>
                    <a:pt x="3728348" y="1175186"/>
                  </a:cubicBezTo>
                  <a:cubicBezTo>
                    <a:pt x="3726784" y="1176749"/>
                    <a:pt x="3724663" y="1177628"/>
                    <a:pt x="3722451" y="1177628"/>
                  </a:cubicBezTo>
                  <a:lnTo>
                    <a:pt x="8340" y="1177628"/>
                  </a:lnTo>
                  <a:cubicBezTo>
                    <a:pt x="6128" y="1177628"/>
                    <a:pt x="4007" y="1176749"/>
                    <a:pt x="2443" y="1175186"/>
                  </a:cubicBezTo>
                  <a:cubicBezTo>
                    <a:pt x="879" y="1173622"/>
                    <a:pt x="0" y="1171500"/>
                    <a:pt x="0" y="1169289"/>
                  </a:cubicBezTo>
                  <a:lnTo>
                    <a:pt x="0" y="8340"/>
                  </a:lnTo>
                  <a:cubicBezTo>
                    <a:pt x="0" y="6128"/>
                    <a:pt x="879" y="4007"/>
                    <a:pt x="2443" y="2443"/>
                  </a:cubicBezTo>
                  <a:cubicBezTo>
                    <a:pt x="4007" y="879"/>
                    <a:pt x="6128" y="0"/>
                    <a:pt x="8340" y="0"/>
                  </a:cubicBez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3730791" cy="1244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00"/>
                </a:lnSpc>
              </a:pPr>
              <a:endParaRPr/>
            </a:p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0" y="3028698"/>
            <a:ext cx="18288000" cy="5146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  Hypothesis</a:t>
            </a:r>
          </a:p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</a:t>
            </a:r>
            <a:r>
              <a:rPr lang="en-US" sz="2899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  H₀ (Null Hypothesis):</a:t>
            </a:r>
          </a:p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Learning environments that encourage interaction do not improve student engagement</a:t>
            </a:r>
          </a:p>
          <a:p>
            <a:pPr algn="l">
              <a:lnSpc>
                <a:spcPts val="4059"/>
              </a:lnSpc>
            </a:pPr>
            <a:endParaRPr lang="en-US" sz="2899" b="1">
              <a:solidFill>
                <a:srgbClr val="F2F2F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  </a:t>
            </a:r>
          </a:p>
          <a:p>
            <a:pPr algn="l">
              <a:lnSpc>
                <a:spcPts val="4059"/>
              </a:lnSpc>
            </a:pPr>
            <a:endParaRPr lang="en-US" sz="2899" b="1">
              <a:solidFill>
                <a:srgbClr val="F2F2F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H₁ (Alternative Hypothesis):</a:t>
            </a:r>
          </a:p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Learning environments that encourage interaction improve student engagement</a:t>
            </a:r>
          </a:p>
          <a:p>
            <a:pPr algn="l">
              <a:lnSpc>
                <a:spcPts val="4059"/>
              </a:lnSpc>
            </a:pPr>
            <a:endParaRPr lang="en-US" sz="2899" b="1">
              <a:solidFill>
                <a:srgbClr val="F2F2F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059"/>
              </a:lnSpc>
              <a:spcBef>
                <a:spcPct val="0"/>
              </a:spcBef>
            </a:pPr>
            <a:endParaRPr lang="en-US" sz="2899" b="1">
              <a:solidFill>
                <a:srgbClr val="F2F2F2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5375063" y="7042505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4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4" y="5385164"/>
                </a:lnTo>
                <a:lnTo>
                  <a:pt x="53949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5375063" y="7594418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4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4" y="5385164"/>
                </a:lnTo>
                <a:lnTo>
                  <a:pt x="53949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02267" y="652780"/>
            <a:ext cx="18426660" cy="1758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Results: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Results:</a:t>
            </a:r>
          </a:p>
          <a:p>
            <a:pPr marL="712464" lvl="1" indent="-356232" algn="l">
              <a:lnSpc>
                <a:spcPts val="4619"/>
              </a:lnSpc>
              <a:buFont typeface="Arial"/>
              <a:buChar char="•"/>
            </a:pPr>
            <a:r>
              <a:rPr lang="en-US" sz="3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</a:t>
            </a: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Teaching method shows </a:t>
            </a:r>
            <a:r>
              <a:rPr lang="en-US" sz="3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 significant difference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    </a:t>
            </a:r>
            <a:r>
              <a:rPr lang="en-US" sz="3199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(p = 0.8047)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→ method alone does not affect engagement</a:t>
            </a:r>
          </a:p>
          <a:p>
            <a:pPr algn="l">
              <a:lnSpc>
                <a:spcPts val="4480"/>
              </a:lnSpc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32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Participation has a very strong positive effect</a:t>
            </a:r>
          </a:p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  </a:t>
            </a: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Higher participation = higher engagement </a:t>
            </a:r>
            <a:r>
              <a:rPr lang="en-US" sz="32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(ρ ≈ 0.99)</a:t>
            </a:r>
          </a:p>
          <a:p>
            <a:pPr algn="l">
              <a:lnSpc>
                <a:spcPts val="4480"/>
              </a:lnSpc>
            </a:pPr>
            <a:endParaRPr lang="en-US" sz="3200" i="1">
              <a:solidFill>
                <a:srgbClr val="000000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  <a:p>
            <a:pPr marL="690874" lvl="1" indent="-345437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Completion time has a strong negative effect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    More time = lower engagement (ρ ≈ -0.88)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90874" lvl="1" indent="-345437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Learning environment has a positive effect</a:t>
            </a:r>
          </a:p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  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Better environment = better engagement (ρ ≈ 0.49) 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90874" lvl="1" indent="-345437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Model explains </a:t>
            </a:r>
            <a:r>
              <a:rPr lang="en-US" sz="3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about 99% of engagement (R² ≈ 0.99)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599"/>
              </a:lnSpc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599"/>
              </a:lnSpc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599"/>
              </a:lnSpc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599"/>
              </a:lnSpc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599"/>
              </a:lnSpc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599"/>
              </a:lnSpc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599"/>
              </a:lnSpc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599"/>
              </a:lnSpc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599"/>
              </a:lnSpc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1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469824" y="7594418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4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4" y="5385164"/>
                </a:lnTo>
                <a:lnTo>
                  <a:pt x="53949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2132170" y="7594418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4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4" y="5385164"/>
                </a:lnTo>
                <a:lnTo>
                  <a:pt x="53949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5590513" y="6565718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4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4" y="5385164"/>
                </a:lnTo>
                <a:lnTo>
                  <a:pt x="53949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15223451" y="7206693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4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4" y="5385164"/>
                </a:lnTo>
                <a:lnTo>
                  <a:pt x="53949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0" y="2095618"/>
            <a:ext cx="18288000" cy="4078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Since the results show that interaction and learning environment significantly improve engagement, 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endParaRPr lang="en-US" sz="32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619"/>
              </a:lnSpc>
              <a:spcBef>
                <a:spcPct val="0"/>
              </a:spcBef>
            </a:pPr>
            <a:endParaRPr lang="en-US" sz="32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</a:t>
            </a:r>
            <a:r>
              <a:rPr lang="en-US" sz="3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reject H₀ (no improvement) </a:t>
            </a: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accept</a:t>
            </a:r>
            <a:r>
              <a:rPr lang="en-US" sz="3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H₁ (improvement exists),</a:t>
            </a: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concluding that </a:t>
            </a:r>
            <a:r>
              <a:rPr lang="en-US" sz="3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learning environments improve student engagement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endParaRPr lang="en-US" sz="32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5883849" y="7054486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5297178" y="7546793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416513" y="343098"/>
            <a:ext cx="7716590" cy="1238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8"/>
              </a:lnSpc>
              <a:spcBef>
                <a:spcPct val="0"/>
              </a:spcBef>
            </a:pPr>
            <a:r>
              <a:rPr lang="en-US" sz="683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3335" y="1938831"/>
            <a:ext cx="16965965" cy="788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9"/>
              </a:lnSpc>
            </a:pPr>
            <a:r>
              <a:rPr lang="en-US" sz="32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•Student engagement is mainly influenced by</a:t>
            </a:r>
            <a:r>
              <a:rPr lang="en-US" sz="326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participation and interaction</a:t>
            </a:r>
          </a:p>
          <a:p>
            <a:pPr algn="l">
              <a:lnSpc>
                <a:spcPts val="4569"/>
              </a:lnSpc>
            </a:pPr>
            <a:endParaRPr lang="en-US" sz="3263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569"/>
              </a:lnSpc>
              <a:spcBef>
                <a:spcPct val="0"/>
              </a:spcBef>
            </a:pPr>
            <a:r>
              <a:rPr lang="en-US" sz="32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•The </a:t>
            </a:r>
            <a:r>
              <a:rPr lang="en-US" sz="326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learning_environment_score was created by combining key factors </a:t>
            </a:r>
            <a:r>
              <a:rPr lang="en-US" sz="32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(teaching method, feedback, adaptive content, visual quality, relevance) to represent environment quality </a:t>
            </a:r>
          </a:p>
          <a:p>
            <a:pPr algn="l">
              <a:lnSpc>
                <a:spcPts val="4569"/>
              </a:lnSpc>
              <a:spcBef>
                <a:spcPct val="0"/>
              </a:spcBef>
            </a:pPr>
            <a:endParaRPr lang="en-US" sz="326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569"/>
              </a:lnSpc>
              <a:spcBef>
                <a:spcPct val="0"/>
              </a:spcBef>
            </a:pPr>
            <a:r>
              <a:rPr lang="en-US" sz="32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•This learning environment shows a</a:t>
            </a:r>
            <a:r>
              <a:rPr lang="en-US" sz="326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positive impact on engagement</a:t>
            </a:r>
          </a:p>
          <a:p>
            <a:pPr algn="l">
              <a:lnSpc>
                <a:spcPts val="4569"/>
              </a:lnSpc>
              <a:spcBef>
                <a:spcPct val="0"/>
              </a:spcBef>
            </a:pPr>
            <a:r>
              <a:rPr lang="en-US" sz="32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4569"/>
              </a:lnSpc>
              <a:spcBef>
                <a:spcPct val="0"/>
              </a:spcBef>
            </a:pPr>
            <a:r>
              <a:rPr lang="en-US" sz="32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•Teaching method alone is not a </a:t>
            </a:r>
            <a:r>
              <a:rPr lang="en-US" sz="326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significant factor </a:t>
            </a:r>
          </a:p>
          <a:p>
            <a:pPr algn="l">
              <a:lnSpc>
                <a:spcPts val="4569"/>
              </a:lnSpc>
              <a:spcBef>
                <a:spcPct val="0"/>
              </a:spcBef>
            </a:pPr>
            <a:endParaRPr lang="en-US" sz="3263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569"/>
              </a:lnSpc>
              <a:spcBef>
                <a:spcPct val="0"/>
              </a:spcBef>
            </a:pPr>
            <a:r>
              <a:rPr lang="en-US" sz="32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•Interactive environments</a:t>
            </a:r>
            <a:r>
              <a:rPr lang="en-US" sz="326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increase participation and improve efficiency </a:t>
            </a:r>
          </a:p>
          <a:p>
            <a:pPr algn="l">
              <a:lnSpc>
                <a:spcPts val="4569"/>
              </a:lnSpc>
              <a:spcBef>
                <a:spcPct val="0"/>
              </a:spcBef>
            </a:pPr>
            <a:endParaRPr lang="en-US" sz="3263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569"/>
              </a:lnSpc>
              <a:spcBef>
                <a:spcPct val="0"/>
              </a:spcBef>
            </a:pPr>
            <a:r>
              <a:rPr lang="en-US" sz="32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•Overall, </a:t>
            </a:r>
            <a:r>
              <a:rPr lang="en-US" sz="326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learning environments enhance student engagement </a:t>
            </a:r>
          </a:p>
          <a:p>
            <a:pPr algn="ctr">
              <a:lnSpc>
                <a:spcPts val="3589"/>
              </a:lnSpc>
              <a:spcBef>
                <a:spcPct val="0"/>
              </a:spcBef>
            </a:pPr>
            <a:endParaRPr lang="en-US" sz="3263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561813" y="7235090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4" y="0"/>
                </a:moveTo>
                <a:lnTo>
                  <a:pt x="0" y="0"/>
                </a:lnTo>
                <a:lnTo>
                  <a:pt x="0" y="5385165"/>
                </a:lnTo>
                <a:lnTo>
                  <a:pt x="5394974" y="5385165"/>
                </a:lnTo>
                <a:lnTo>
                  <a:pt x="53949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5223451" y="7235090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4" y="0"/>
                </a:moveTo>
                <a:lnTo>
                  <a:pt x="0" y="0"/>
                </a:lnTo>
                <a:lnTo>
                  <a:pt x="0" y="5385165"/>
                </a:lnTo>
                <a:lnTo>
                  <a:pt x="5394974" y="5385165"/>
                </a:lnTo>
                <a:lnTo>
                  <a:pt x="53949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-1391478" y="-1898497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-1918236" y="-1898497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4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4" y="5385164"/>
                </a:lnTo>
                <a:lnTo>
                  <a:pt x="53949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8700" y="3629811"/>
            <a:ext cx="16738502" cy="3433738"/>
            <a:chOff x="0" y="0"/>
            <a:chExt cx="3444136" cy="7065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44136" cy="706530"/>
            </a:xfrm>
            <a:custGeom>
              <a:avLst/>
              <a:gdLst/>
              <a:ahLst/>
              <a:cxnLst/>
              <a:rect l="l" t="t" r="r" b="b"/>
              <a:pathLst>
                <a:path w="3444136" h="706530">
                  <a:moveTo>
                    <a:pt x="9034" y="0"/>
                  </a:moveTo>
                  <a:lnTo>
                    <a:pt x="3435103" y="0"/>
                  </a:lnTo>
                  <a:cubicBezTo>
                    <a:pt x="3437499" y="0"/>
                    <a:pt x="3439796" y="952"/>
                    <a:pt x="3441490" y="2646"/>
                  </a:cubicBezTo>
                  <a:cubicBezTo>
                    <a:pt x="3443184" y="4340"/>
                    <a:pt x="3444136" y="6638"/>
                    <a:pt x="3444136" y="9034"/>
                  </a:cubicBezTo>
                  <a:lnTo>
                    <a:pt x="3444136" y="697497"/>
                  </a:lnTo>
                  <a:cubicBezTo>
                    <a:pt x="3444136" y="702486"/>
                    <a:pt x="3440092" y="706530"/>
                    <a:pt x="3435103" y="706530"/>
                  </a:cubicBezTo>
                  <a:lnTo>
                    <a:pt x="9034" y="706530"/>
                  </a:lnTo>
                  <a:cubicBezTo>
                    <a:pt x="4044" y="706530"/>
                    <a:pt x="0" y="702486"/>
                    <a:pt x="0" y="697497"/>
                  </a:cubicBezTo>
                  <a:lnTo>
                    <a:pt x="0" y="9034"/>
                  </a:lnTo>
                  <a:cubicBezTo>
                    <a:pt x="0" y="4044"/>
                    <a:pt x="4044" y="0"/>
                    <a:pt x="9034" y="0"/>
                  </a:cubicBezTo>
                  <a:close/>
                </a:path>
              </a:pathLst>
            </a:custGeom>
            <a:solidFill>
              <a:srgbClr val="4B16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71450"/>
              <a:ext cx="3444136" cy="877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539"/>
                </a:lnSpc>
              </a:pPr>
              <a:r>
                <a:rPr lang="en-US" sz="60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THANK YOU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1112</Words>
  <Application>Microsoft Office PowerPoint</Application>
  <PresentationFormat>Custom</PresentationFormat>
  <Paragraphs>264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Sugo Display</vt:lpstr>
      <vt:lpstr>Poppins Bold</vt:lpstr>
      <vt:lpstr>Poppins Italics</vt:lpstr>
      <vt:lpstr>Poppins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creator>LENOVO</dc:creator>
  <cp:lastModifiedBy>DEVINDI K G N it23545694</cp:lastModifiedBy>
  <cp:revision>3</cp:revision>
  <dcterms:created xsi:type="dcterms:W3CDTF">2006-08-16T00:00:00Z</dcterms:created>
  <dcterms:modified xsi:type="dcterms:W3CDTF">2026-04-08T20:04:41Z</dcterms:modified>
  <dc:identifier>DAHGR81zEaE</dc:identifier>
</cp:coreProperties>
</file>